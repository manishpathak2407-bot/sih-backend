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58437D-9AC7-A276-F869-CF52F436A9E2}">
          <p14:sldIdLst>
            <p14:sldId id="256"/>
          </p14:sldIdLst>
        </p14:section>
        <p14:section name="Idea" id="{1174A7D1-1D6C-4FB8-6E71-90F3EB5B5DA5}">
          <p14:sldIdLst>
            <p14:sldId id="257"/>
          </p14:sldIdLst>
        </p14:section>
        <p14:section name="Technical approach" id="{5313C8F3-C5CB-94D8-7255-E062EAE77F23}">
          <p14:sldIdLst>
            <p14:sldId id="258"/>
          </p14:sldIdLst>
        </p14:section>
        <p14:section name="Feasibility and viability" id="{3F5D570D-FC98-EBC6-1EE8-7FFD7FDCF629}">
          <p14:sldIdLst>
            <p14:sldId id="259"/>
          </p14:sldIdLst>
        </p14:section>
        <p14:section name="Impact and benefits" id="{EDC15014-5A7B-8204-6D4F-D7DF6300F15C}">
          <p14:sldIdLst>
            <p14:sldId id="260"/>
          </p14:sldIdLst>
        </p14:section>
        <p14:section name="Research and references" id="{7B8A0C2C-8BE2-FE4F-6C58-446601429E9E}">
          <p14:sldIdLst>
            <p14:sldId id="261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96" y="-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8AEFD-F07F-430D-927F-B6E7BD928C17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88305-BCB6-45B1-9E81-43FE19564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4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chemeClr val="bg1"/>
                </a:solidFill>
              </a:rPr>
              <a:t>  </a:t>
            </a:r>
            <a:r>
              <a:rPr lang="en-US" sz="900" dirty="0">
                <a:solidFill>
                  <a:schemeClr val="bg1"/>
                </a:solidFill>
              </a:rPr>
              <a:t>SkyReady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222250" y="1046480"/>
            <a:ext cx="8667750" cy="1282700"/>
          </a:xfrm>
          <a:prstGeom prst="rect">
            <a:avLst/>
          </a:prstGeom>
          <a:noFill/>
          <a:ln/>
          <a:effectLst>
            <a:softEdge rad="12700"/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 err="1" smtClean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SkyReady</a:t>
            </a:r>
            <a:endParaRPr lang="en-US" sz="4000" b="1" dirty="0" smtClean="0">
              <a:solidFill>
                <a:schemeClr val="tx2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Maintenance &amp; Fleet Availability Optimizer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095115" y="123187"/>
            <a:ext cx="5424170" cy="3266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3">
              <a:spcAft>
                <a:spcPts val="900"/>
              </a:spcAft>
              <a:buSzPct val="100000"/>
            </a:pPr>
            <a:r>
              <a:rPr lang="en-US" sz="1500" b="1" dirty="0" smtClean="0">
                <a:latin typeface="Copperplate Gothic Bold" pitchFamily="34" charset="0"/>
                <a:ea typeface="Calibri" pitchFamily="34" charset="-122"/>
                <a:cs typeface="Calibri" pitchFamily="34" charset="-120"/>
              </a:rPr>
              <a:t>TEAM NAME -KILLSWITCHX</a:t>
            </a:r>
            <a:endParaRPr lang="en-US" sz="1500" dirty="0">
              <a:latin typeface="Copperplate Gothic Bold" pitchFamily="34" charset="0"/>
            </a:endParaRPr>
          </a:p>
        </p:txBody>
      </p:sp>
      <p:sp>
        <p:nvSpPr>
          <p:cNvPr id="8" name="Flowchart: Alternate Process 7"/>
          <p:cNvSpPr/>
          <p:nvPr/>
        </p:nvSpPr>
        <p:spPr>
          <a:xfrm>
            <a:off x="222250" y="2432050"/>
            <a:ext cx="8597900" cy="20574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Alternate Process 8"/>
          <p:cNvSpPr/>
          <p:nvPr/>
        </p:nvSpPr>
        <p:spPr>
          <a:xfrm>
            <a:off x="584200" y="2818646"/>
            <a:ext cx="1543050" cy="6731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Bahnschrift Light" pitchFamily="34" charset="0"/>
            </a:endParaRPr>
          </a:p>
          <a:p>
            <a:pPr algn="ctr"/>
            <a:r>
              <a:rPr lang="en-US" dirty="0" smtClean="0">
                <a:latin typeface="Bahnschrift Light" pitchFamily="34" charset="0"/>
              </a:rPr>
              <a:t>01</a:t>
            </a:r>
          </a:p>
          <a:p>
            <a:pPr algn="ctr"/>
            <a:r>
              <a:rPr lang="en-US" dirty="0" smtClean="0">
                <a:latin typeface="Arial Rounded MT Bold" pitchFamily="34" charset="0"/>
              </a:rPr>
              <a:t>DETECT</a:t>
            </a:r>
          </a:p>
          <a:p>
            <a:pPr algn="ctr"/>
            <a:endParaRPr lang="en-IN" dirty="0">
              <a:latin typeface="Arial Rounded MT Bold" pitchFamily="34" charset="0"/>
            </a:endParaRPr>
          </a:p>
        </p:txBody>
      </p:sp>
      <p:sp>
        <p:nvSpPr>
          <p:cNvPr id="10" name="Flowchart: Alternate Process 9"/>
          <p:cNvSpPr/>
          <p:nvPr/>
        </p:nvSpPr>
        <p:spPr>
          <a:xfrm>
            <a:off x="3473450" y="3651250"/>
            <a:ext cx="1543050" cy="6731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Bahnschrift Light" pitchFamily="34" charset="0"/>
              </a:rPr>
              <a:t>05</a:t>
            </a:r>
          </a:p>
          <a:p>
            <a:pPr algn="ctr"/>
            <a:r>
              <a:rPr lang="en-US" dirty="0" smtClean="0">
                <a:latin typeface="Arial Rounded MT Bold" pitchFamily="34" charset="0"/>
              </a:rPr>
              <a:t>SIMULATE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11" name="Flowchart: Alternate Process 10"/>
          <p:cNvSpPr/>
          <p:nvPr/>
        </p:nvSpPr>
        <p:spPr>
          <a:xfrm>
            <a:off x="584200" y="3644900"/>
            <a:ext cx="1543050" cy="6731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Bahnschrift Light" pitchFamily="34" charset="0"/>
              </a:rPr>
              <a:t>06</a:t>
            </a:r>
          </a:p>
          <a:p>
            <a:pPr algn="ctr"/>
            <a:r>
              <a:rPr lang="en-US" dirty="0" smtClean="0">
                <a:latin typeface="Arial Rounded MT Bold" pitchFamily="34" charset="0"/>
              </a:rPr>
              <a:t>ACT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12" name="Flowchart: Alternate Process 11"/>
          <p:cNvSpPr/>
          <p:nvPr/>
        </p:nvSpPr>
        <p:spPr>
          <a:xfrm>
            <a:off x="3473450" y="2807990"/>
            <a:ext cx="1543050" cy="6731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Bahnschrift Light" pitchFamily="34" charset="0"/>
              </a:rPr>
              <a:t>02</a:t>
            </a:r>
          </a:p>
          <a:p>
            <a:pPr algn="ctr"/>
            <a:r>
              <a:rPr lang="en-US" dirty="0" smtClean="0">
                <a:latin typeface="Arial Rounded MT Bold" pitchFamily="34" charset="0"/>
              </a:rPr>
              <a:t>PREDICT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14" name="Flowchart: Alternate Process 13"/>
          <p:cNvSpPr/>
          <p:nvPr/>
        </p:nvSpPr>
        <p:spPr>
          <a:xfrm>
            <a:off x="6432550" y="3651250"/>
            <a:ext cx="1543050" cy="6731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Bahnschrift Light" pitchFamily="34" charset="0"/>
              </a:rPr>
              <a:t>04</a:t>
            </a:r>
          </a:p>
          <a:p>
            <a:pPr algn="ctr"/>
            <a:r>
              <a:rPr lang="en-US" dirty="0" smtClean="0">
                <a:latin typeface="Arial Rounded MT Bold" pitchFamily="34" charset="0"/>
              </a:rPr>
              <a:t>OPTIMZE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1650" y="2449314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ahnschrift Condensed" pitchFamily="34" charset="0"/>
              </a:rPr>
              <a:t>ONE LOOP ARCHITECTURE </a:t>
            </a:r>
            <a:endParaRPr lang="en-IN" dirty="0">
              <a:latin typeface="Bahnschrift Condensed" pitchFamily="34" charset="0"/>
            </a:endParaRPr>
          </a:p>
        </p:txBody>
      </p:sp>
      <p:sp>
        <p:nvSpPr>
          <p:cNvPr id="18" name="Flowchart: Alternate Process 17"/>
          <p:cNvSpPr/>
          <p:nvPr/>
        </p:nvSpPr>
        <p:spPr>
          <a:xfrm>
            <a:off x="4845050" y="934708"/>
            <a:ext cx="3676650" cy="703580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Light" pitchFamily="34" charset="0"/>
              </a:rPr>
              <a:t>Pipeline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Sensor       Schedule       Spares</a:t>
            </a:r>
          </a:p>
        </p:txBody>
      </p:sp>
      <p:sp>
        <p:nvSpPr>
          <p:cNvPr id="25" name="Right Arrow 24"/>
          <p:cNvSpPr/>
          <p:nvPr/>
        </p:nvSpPr>
        <p:spPr>
          <a:xfrm flipV="1">
            <a:off x="5956300" y="1355065"/>
            <a:ext cx="24765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Right Arrow 25"/>
          <p:cNvSpPr/>
          <p:nvPr/>
        </p:nvSpPr>
        <p:spPr>
          <a:xfrm flipV="1">
            <a:off x="7164546" y="1351230"/>
            <a:ext cx="24765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2127250" y="3018294"/>
            <a:ext cx="1346200" cy="27380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5016500" y="3007638"/>
            <a:ext cx="1416050" cy="273804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Left Arrow 30"/>
          <p:cNvSpPr/>
          <p:nvPr/>
        </p:nvSpPr>
        <p:spPr>
          <a:xfrm>
            <a:off x="2108200" y="3816350"/>
            <a:ext cx="1365250" cy="292100"/>
          </a:xfrm>
          <a:prstGeom prst="lef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Left Arrow 31"/>
          <p:cNvSpPr/>
          <p:nvPr/>
        </p:nvSpPr>
        <p:spPr>
          <a:xfrm>
            <a:off x="5016500" y="3816350"/>
            <a:ext cx="1416050" cy="292100"/>
          </a:xfrm>
          <a:prstGeom prst="lef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Down Arrow 32"/>
          <p:cNvSpPr/>
          <p:nvPr/>
        </p:nvSpPr>
        <p:spPr>
          <a:xfrm>
            <a:off x="7134542" y="3423917"/>
            <a:ext cx="142558" cy="227333"/>
          </a:xfrm>
          <a:prstGeom prst="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Flowchart: Alternate Process 33"/>
          <p:cNvSpPr/>
          <p:nvPr/>
        </p:nvSpPr>
        <p:spPr>
          <a:xfrm>
            <a:off x="6432550" y="2810011"/>
            <a:ext cx="1543050" cy="6731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Bahnschrift Light" pitchFamily="34" charset="0"/>
              </a:rPr>
              <a:t>03</a:t>
            </a:r>
          </a:p>
          <a:p>
            <a:pPr algn="ctr"/>
            <a:r>
              <a:rPr lang="en-US" dirty="0" smtClean="0">
                <a:latin typeface="Arial Rounded MT Bold" pitchFamily="34" charset="0"/>
              </a:rPr>
              <a:t>EXPLAIN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4650" y="230921"/>
            <a:ext cx="265430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AVIATION ANALYTICS PLATFORM</a:t>
            </a:r>
            <a:endParaRPr lang="en-IN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badge"/>
          <p:cNvSpPr/>
          <p:nvPr/>
        </p:nvSpPr>
        <p:spPr>
          <a:xfrm>
            <a:off x="228600" y="128016"/>
            <a:ext cx="86868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4790" y="1874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KillSwitchX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99972" y="12801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SKYREADY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749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SkyReady 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decision-support platform that sits above existing health, maintenance and logistics systems. It answers one question: </a:t>
            </a:r>
            <a:r>
              <a:rPr lang="en-US" sz="115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risk, limited resources and operational demand, which maintenance action keeps the most aircraft available?</a:t>
            </a:r>
            <a:endParaRPr lang="en-US" sz="1150" dirty="0"/>
          </a:p>
        </p:txBody>
      </p:sp>
      <p:sp>
        <p:nvSpPr>
          <p:cNvPr id="6" name="Problem card"/>
          <p:cNvSpPr/>
          <p:nvPr/>
        </p:nvSpPr>
        <p:spPr>
          <a:xfrm>
            <a:off x="274320" y="1481328"/>
            <a:ext cx="4160520" cy="178308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7" name="PROBLEM label"/>
          <p:cNvSpPr/>
          <p:nvPr/>
        </p:nvSpPr>
        <p:spPr>
          <a:xfrm>
            <a:off x="1536192" y="1335024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13350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69164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reactive and fragmented: health data, tech records, spares and agencies sit in separate systems.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found after the aircraft is grounded, then the repair waits for a spare, a technician or a hangar slot.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probability is not actionable if the spare isn't in stock or no slot is free.</a:t>
            </a:r>
            <a:endParaRPr lang="en-US" sz="1050" dirty="0"/>
          </a:p>
        </p:txBody>
      </p:sp>
      <p:sp>
        <p:nvSpPr>
          <p:cNvPr id="10" name="Innovation card"/>
          <p:cNvSpPr/>
          <p:nvPr/>
        </p:nvSpPr>
        <p:spPr>
          <a:xfrm>
            <a:off x="4709160" y="1481328"/>
            <a:ext cx="4160520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1" name="INNOVATION label"/>
          <p:cNvSpPr/>
          <p:nvPr/>
        </p:nvSpPr>
        <p:spPr>
          <a:xfrm>
            <a:off x="5971032" y="1335024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71032" y="13350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69164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is fleet availability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failure probability.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drives decisions: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 ranges feed safety constraints.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sensor to schedule to spares.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plans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well as predictions; built-in what-if simulator.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Adapter-based, air-gapped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fully auditable.</a:t>
            </a:r>
            <a:endParaRPr lang="en-US" sz="1050" dirty="0"/>
          </a:p>
        </p:txBody>
      </p:sp>
      <p:sp>
        <p:nvSpPr>
          <p:cNvPr id="14" name="Solution card"/>
          <p:cNvSpPr/>
          <p:nvPr/>
        </p:nvSpPr>
        <p:spPr>
          <a:xfrm>
            <a:off x="274320" y="3547872"/>
            <a:ext cx="8595360" cy="118872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5" name="SOLUTION label"/>
          <p:cNvSpPr/>
          <p:nvPr/>
        </p:nvSpPr>
        <p:spPr>
          <a:xfrm>
            <a:off x="3749040" y="3401568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3401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7" name="Step Detect"/>
          <p:cNvSpPr/>
          <p:nvPr/>
        </p:nvSpPr>
        <p:spPr>
          <a:xfrm>
            <a:off x="411480" y="3776472"/>
            <a:ext cx="126187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7764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414223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via Isolation Forest</a:t>
            </a:r>
            <a:endParaRPr lang="en-US" sz="950" dirty="0"/>
          </a:p>
        </p:txBody>
      </p:sp>
      <p:sp>
        <p:nvSpPr>
          <p:cNvPr id="20" name="Arrow 0"/>
          <p:cNvSpPr/>
          <p:nvPr/>
        </p:nvSpPr>
        <p:spPr>
          <a:xfrm>
            <a:off x="1682496" y="3877056"/>
            <a:ext cx="137160" cy="12801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Predict"/>
          <p:cNvSpPr/>
          <p:nvPr/>
        </p:nvSpPr>
        <p:spPr>
          <a:xfrm>
            <a:off x="1828800" y="3776472"/>
            <a:ext cx="126187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28800" y="37764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414223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range per component</a:t>
            </a:r>
            <a:endParaRPr lang="en-US" sz="950" dirty="0"/>
          </a:p>
        </p:txBody>
      </p:sp>
      <p:sp>
        <p:nvSpPr>
          <p:cNvPr id="24" name="Arrow 1"/>
          <p:cNvSpPr/>
          <p:nvPr/>
        </p:nvSpPr>
        <p:spPr>
          <a:xfrm>
            <a:off x="3099816" y="3877056"/>
            <a:ext cx="137160" cy="12801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tep Explain"/>
          <p:cNvSpPr/>
          <p:nvPr/>
        </p:nvSpPr>
        <p:spPr>
          <a:xfrm>
            <a:off x="3246120" y="3776472"/>
            <a:ext cx="126187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37764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414223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drivers + plain text</a:t>
            </a:r>
            <a:endParaRPr lang="en-US" sz="950" dirty="0"/>
          </a:p>
        </p:txBody>
      </p:sp>
      <p:sp>
        <p:nvSpPr>
          <p:cNvPr id="28" name="Arrow 2"/>
          <p:cNvSpPr/>
          <p:nvPr/>
        </p:nvSpPr>
        <p:spPr>
          <a:xfrm>
            <a:off x="4517136" y="3877056"/>
            <a:ext cx="137160" cy="12801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Step Optimize"/>
          <p:cNvSpPr/>
          <p:nvPr/>
        </p:nvSpPr>
        <p:spPr>
          <a:xfrm>
            <a:off x="4663440" y="3776472"/>
            <a:ext cx="126187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37764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414223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max ready aircraft-days</a:t>
            </a:r>
            <a:endParaRPr lang="en-US" sz="950" dirty="0"/>
          </a:p>
        </p:txBody>
      </p:sp>
      <p:sp>
        <p:nvSpPr>
          <p:cNvPr id="32" name="Arrow 3"/>
          <p:cNvSpPr/>
          <p:nvPr/>
        </p:nvSpPr>
        <p:spPr>
          <a:xfrm>
            <a:off x="5934456" y="3877056"/>
            <a:ext cx="137160" cy="12801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Step Simulate"/>
          <p:cNvSpPr/>
          <p:nvPr/>
        </p:nvSpPr>
        <p:spPr>
          <a:xfrm>
            <a:off x="6080760" y="3776472"/>
            <a:ext cx="126187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80760" y="37764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080760" y="414223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readiness band</a:t>
            </a:r>
            <a:endParaRPr lang="en-US" sz="950" dirty="0"/>
          </a:p>
        </p:txBody>
      </p:sp>
      <p:sp>
        <p:nvSpPr>
          <p:cNvPr id="36" name="Arrow 4"/>
          <p:cNvSpPr/>
          <p:nvPr/>
        </p:nvSpPr>
        <p:spPr>
          <a:xfrm>
            <a:off x="7351776" y="3877056"/>
            <a:ext cx="137160" cy="128016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Step Act"/>
          <p:cNvSpPr/>
          <p:nvPr/>
        </p:nvSpPr>
        <p:spPr>
          <a:xfrm>
            <a:off x="7498080" y="3776472"/>
            <a:ext cx="126187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0" y="37764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0" y="414223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spares, human approves</a:t>
            </a:r>
            <a:endParaRPr lang="en-US" sz="9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badge"/>
          <p:cNvSpPr/>
          <p:nvPr/>
        </p:nvSpPr>
        <p:spPr>
          <a:xfrm>
            <a:off x="228600" y="128016"/>
            <a:ext cx="86868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7490" y="22987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KillSwitchX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400" dirty="0"/>
          </a:p>
        </p:txBody>
      </p:sp>
      <p:sp>
        <p:nvSpPr>
          <p:cNvPr id="5" name="Block 1  Ingest &amp; Detect"/>
          <p:cNvSpPr/>
          <p:nvPr/>
        </p:nvSpPr>
        <p:spPr>
          <a:xfrm>
            <a:off x="274320" y="868680"/>
            <a:ext cx="26060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868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 &amp; Detect</a:t>
            </a:r>
            <a:endParaRPr lang="en-US" sz="1400" dirty="0"/>
          </a:p>
        </p:txBody>
      </p:sp>
      <p:sp>
        <p:nvSpPr>
          <p:cNvPr id="7" name="Caption bg 1  Ingest &amp; Detect"/>
          <p:cNvSpPr/>
          <p:nvPr/>
        </p:nvSpPr>
        <p:spPr>
          <a:xfrm>
            <a:off x="274320" y="1298448"/>
            <a:ext cx="2606040" cy="566928"/>
          </a:xfrm>
          <a:prstGeom prst="rect">
            <a:avLst/>
          </a:prstGeom>
          <a:solidFill>
            <a:schemeClr val="accent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1298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adapters → one schema; clean, normalize by operating condition; Isolation Forest flags novel behaviour</a:t>
            </a:r>
            <a:endParaRPr lang="en-US" sz="950" dirty="0"/>
          </a:p>
        </p:txBody>
      </p:sp>
      <p:sp>
        <p:nvSpPr>
          <p:cNvPr id="9" name="Block 2  Predict RUL"/>
          <p:cNvSpPr/>
          <p:nvPr/>
        </p:nvSpPr>
        <p:spPr>
          <a:xfrm>
            <a:off x="274320" y="2194560"/>
            <a:ext cx="26060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Predict RUL</a:t>
            </a:r>
            <a:endParaRPr lang="en-US" sz="1400" dirty="0"/>
          </a:p>
        </p:txBody>
      </p:sp>
      <p:sp>
        <p:nvSpPr>
          <p:cNvPr id="11" name="Caption bg 2  Predict RUL"/>
          <p:cNvSpPr/>
          <p:nvPr/>
        </p:nvSpPr>
        <p:spPr>
          <a:xfrm>
            <a:off x="274320" y="2624328"/>
            <a:ext cx="2606040" cy="566928"/>
          </a:xfrm>
          <a:prstGeom prst="rect">
            <a:avLst/>
          </a:prstGeom>
          <a:solidFill>
            <a:schemeClr val="accent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243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+ LSTM ensemble; quantile regression → "28–55 cycles, most likely 40"</a:t>
            </a:r>
            <a:endParaRPr lang="en-US" sz="950" dirty="0"/>
          </a:p>
        </p:txBody>
      </p:sp>
      <p:sp>
        <p:nvSpPr>
          <p:cNvPr id="13" name="Block 3  Explain"/>
          <p:cNvSpPr/>
          <p:nvPr/>
        </p:nvSpPr>
        <p:spPr>
          <a:xfrm>
            <a:off x="274320" y="3520440"/>
            <a:ext cx="26060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" y="3520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Explain</a:t>
            </a:r>
            <a:endParaRPr lang="en-US" sz="1400" dirty="0"/>
          </a:p>
        </p:txBody>
      </p:sp>
      <p:sp>
        <p:nvSpPr>
          <p:cNvPr id="15" name="Caption bg 3  Explain"/>
          <p:cNvSpPr/>
          <p:nvPr/>
        </p:nvSpPr>
        <p:spPr>
          <a:xfrm>
            <a:off x="274320" y="3950208"/>
            <a:ext cx="2606040" cy="566928"/>
          </a:xfrm>
          <a:prstGeom prst="rect">
            <a:avLst/>
          </a:prstGeom>
          <a:solidFill>
            <a:schemeClr val="accent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" y="39502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sensor drivers, plain-language summary, trend chart with uncertainty band</a:t>
            </a:r>
            <a:endParaRPr lang="en-US" sz="950" dirty="0"/>
          </a:p>
        </p:txBody>
      </p:sp>
      <p:sp>
        <p:nvSpPr>
          <p:cNvPr id="17" name="Block 6  Act"/>
          <p:cNvSpPr/>
          <p:nvPr/>
        </p:nvSpPr>
        <p:spPr>
          <a:xfrm>
            <a:off x="3200400" y="3520440"/>
            <a:ext cx="26060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520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Act</a:t>
            </a:r>
            <a:endParaRPr lang="en-US" sz="1400" dirty="0"/>
          </a:p>
        </p:txBody>
      </p:sp>
      <p:sp>
        <p:nvSpPr>
          <p:cNvPr id="19" name="Caption bg 6  Act"/>
          <p:cNvSpPr/>
          <p:nvPr/>
        </p:nvSpPr>
        <p:spPr>
          <a:xfrm>
            <a:off x="3200400" y="3950208"/>
            <a:ext cx="2606040" cy="566928"/>
          </a:xfrm>
          <a:prstGeom prst="rect">
            <a:avLst/>
          </a:prstGeom>
          <a:solidFill>
            <a:schemeClr val="accent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39502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draft spares requisitions with latest safe order date; overrides need a reason</a:t>
            </a:r>
            <a:endParaRPr lang="en-US" sz="950" dirty="0"/>
          </a:p>
        </p:txBody>
      </p:sp>
      <p:sp>
        <p:nvSpPr>
          <p:cNvPr id="21" name="Block 5  Simulate"/>
          <p:cNvSpPr/>
          <p:nvPr/>
        </p:nvSpPr>
        <p:spPr>
          <a:xfrm>
            <a:off x="3200400" y="2194560"/>
            <a:ext cx="260604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Simulate</a:t>
            </a:r>
            <a:endParaRPr lang="en-US" sz="1400" dirty="0"/>
          </a:p>
        </p:txBody>
      </p:sp>
      <p:sp>
        <p:nvSpPr>
          <p:cNvPr id="23" name="Caption bg 5  Simulate"/>
          <p:cNvSpPr/>
          <p:nvPr/>
        </p:nvSpPr>
        <p:spPr>
          <a:xfrm>
            <a:off x="3200400" y="2624328"/>
            <a:ext cx="2606040" cy="566928"/>
          </a:xfrm>
          <a:prstGeom prst="rect">
            <a:avLst/>
          </a:prstGeom>
          <a:solidFill>
            <a:schemeClr val="accent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46120" y="26243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What-if: delayed spare, demand surge, technician shortage, closed bay, early failure</a:t>
            </a:r>
            <a:endParaRPr lang="en-US" sz="950" dirty="0"/>
          </a:p>
        </p:txBody>
      </p:sp>
      <p:sp>
        <p:nvSpPr>
          <p:cNvPr id="25" name="Block 4  Optimize (core)"/>
          <p:cNvSpPr/>
          <p:nvPr/>
        </p:nvSpPr>
        <p:spPr>
          <a:xfrm>
            <a:off x="3200400" y="868680"/>
            <a:ext cx="260604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0" y="868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Optimize (core)</a:t>
            </a:r>
            <a:endParaRPr lang="en-US" sz="1400" dirty="0"/>
          </a:p>
        </p:txBody>
      </p:sp>
      <p:sp>
        <p:nvSpPr>
          <p:cNvPr id="27" name="Caption bg 4  Optimize (core)"/>
          <p:cNvSpPr/>
          <p:nvPr/>
        </p:nvSpPr>
        <p:spPr>
          <a:xfrm>
            <a:off x="3200400" y="1298448"/>
            <a:ext cx="2606040" cy="566928"/>
          </a:xfrm>
          <a:prstGeom prst="rect">
            <a:avLst/>
          </a:prstGeom>
          <a:solidFill>
            <a:schemeClr val="accent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46120" y="1298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CP-SAT: max ready aircraft-days, failure risk ≤ limit; pessimistic RUL = latest safe date; bundle work per visit</a:t>
            </a:r>
            <a:endParaRPr lang="en-US" sz="950" dirty="0"/>
          </a:p>
        </p:txBody>
      </p:sp>
      <p:sp>
        <p:nvSpPr>
          <p:cNvPr id="29" name="down"/>
          <p:cNvSpPr/>
          <p:nvPr/>
        </p:nvSpPr>
        <p:spPr>
          <a:xfrm>
            <a:off x="1476756" y="1892808"/>
            <a:ext cx="201168" cy="25603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down"/>
          <p:cNvSpPr/>
          <p:nvPr/>
        </p:nvSpPr>
        <p:spPr>
          <a:xfrm>
            <a:off x="1476756" y="3218688"/>
            <a:ext cx="201168" cy="25603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up"/>
          <p:cNvSpPr/>
          <p:nvPr/>
        </p:nvSpPr>
        <p:spPr>
          <a:xfrm>
            <a:off x="4402836" y="1892808"/>
            <a:ext cx="201168" cy="256032"/>
          </a:xfrm>
          <a:prstGeom prst="up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up"/>
          <p:cNvSpPr/>
          <p:nvPr/>
        </p:nvSpPr>
        <p:spPr>
          <a:xfrm>
            <a:off x="4402836" y="3218688"/>
            <a:ext cx="201168" cy="256032"/>
          </a:xfrm>
          <a:prstGeom prst="up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o optimize"/>
          <p:cNvSpPr/>
          <p:nvPr/>
        </p:nvSpPr>
        <p:spPr>
          <a:xfrm>
            <a:off x="2916936" y="3630168"/>
            <a:ext cx="246888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Hex TECH STACK"/>
          <p:cNvSpPr/>
          <p:nvPr/>
        </p:nvSpPr>
        <p:spPr>
          <a:xfrm>
            <a:off x="6821424" y="1943100"/>
            <a:ext cx="896112" cy="777240"/>
          </a:xfrm>
          <a:prstGeom prst="hexagon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21424" y="1943100"/>
            <a:ext cx="896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6" name="Hex PyTorch LSTM"/>
          <p:cNvSpPr/>
          <p:nvPr/>
        </p:nvSpPr>
        <p:spPr>
          <a:xfrm>
            <a:off x="6821424" y="1165860"/>
            <a:ext cx="896112" cy="777240"/>
          </a:xfrm>
          <a:prstGeom prst="hexagon">
            <a:avLst/>
          </a:prstGeom>
          <a:solidFill>
            <a:srgbClr val="F4B18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21424" y="1165860"/>
            <a:ext cx="896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38" name="Hex XGBoost GBM"/>
          <p:cNvSpPr/>
          <p:nvPr/>
        </p:nvSpPr>
        <p:spPr>
          <a:xfrm>
            <a:off x="7493508" y="1554480"/>
            <a:ext cx="896112" cy="777240"/>
          </a:xfrm>
          <a:prstGeom prst="hexagon">
            <a:avLst/>
          </a:prstGeom>
          <a:solidFill>
            <a:srgbClr val="F4B18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3508" y="1554480"/>
            <a:ext cx="896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000" dirty="0"/>
          </a:p>
        </p:txBody>
      </p:sp>
      <p:sp>
        <p:nvSpPr>
          <p:cNvPr id="40" name="Hex OR-Tools CP-SAT"/>
          <p:cNvSpPr/>
          <p:nvPr/>
        </p:nvSpPr>
        <p:spPr>
          <a:xfrm>
            <a:off x="7493508" y="2331720"/>
            <a:ext cx="896112" cy="777240"/>
          </a:xfrm>
          <a:prstGeom prst="hexagon">
            <a:avLst/>
          </a:prstGeom>
          <a:solidFill>
            <a:srgbClr val="F4B18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93508" y="2331720"/>
            <a:ext cx="896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</a:t>
            </a:r>
            <a:endParaRPr lang="en-US" sz="1000" dirty="0"/>
          </a:p>
        </p:txBody>
      </p:sp>
      <p:sp>
        <p:nvSpPr>
          <p:cNvPr id="42" name="Hex FastAPI"/>
          <p:cNvSpPr/>
          <p:nvPr/>
        </p:nvSpPr>
        <p:spPr>
          <a:xfrm>
            <a:off x="6821424" y="2720340"/>
            <a:ext cx="896112" cy="777240"/>
          </a:xfrm>
          <a:prstGeom prst="hexagon">
            <a:avLst/>
          </a:prstGeom>
          <a:solidFill>
            <a:srgbClr val="F4B18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21424" y="2720340"/>
            <a:ext cx="896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44" name="Hex PostgreSQL + TSDB"/>
          <p:cNvSpPr/>
          <p:nvPr/>
        </p:nvSpPr>
        <p:spPr>
          <a:xfrm>
            <a:off x="6149340" y="2331720"/>
            <a:ext cx="896112" cy="777240"/>
          </a:xfrm>
          <a:prstGeom prst="hexagon">
            <a:avLst/>
          </a:prstGeom>
          <a:solidFill>
            <a:srgbClr val="F4B18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49340" y="2331720"/>
            <a:ext cx="896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TSDB</a:t>
            </a:r>
            <a:endParaRPr lang="en-US" sz="1000" dirty="0"/>
          </a:p>
        </p:txBody>
      </p:sp>
      <p:sp>
        <p:nvSpPr>
          <p:cNvPr id="46" name="Hex SHAP"/>
          <p:cNvSpPr/>
          <p:nvPr/>
        </p:nvSpPr>
        <p:spPr>
          <a:xfrm>
            <a:off x="6149340" y="1554480"/>
            <a:ext cx="896112" cy="777240"/>
          </a:xfrm>
          <a:prstGeom prst="hexagon">
            <a:avLst/>
          </a:prstGeom>
          <a:solidFill>
            <a:srgbClr val="F4B18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49340" y="1554480"/>
            <a:ext cx="896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0" y="4069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· Docker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On-premise, air-gapped, offline install; role-based access</a:t>
            </a:r>
            <a:endParaRPr lang="en-US" sz="10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badge"/>
          <p:cNvSpPr/>
          <p:nvPr/>
        </p:nvSpPr>
        <p:spPr>
          <a:xfrm>
            <a:off x="227330" y="45466"/>
            <a:ext cx="86868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KillSwitchX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5" name="FEASIBILITY label"/>
          <p:cNvSpPr/>
          <p:nvPr/>
        </p:nvSpPr>
        <p:spPr>
          <a:xfrm>
            <a:off x="274320" y="841248"/>
            <a:ext cx="173736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841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188720"/>
            <a:ext cx="4251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is established and open source; the novelty is how they connect and the objective.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NASA C-MAPSS run-to-failure data + our synthetic fleet generator (aircraft, spares, rosters, slots, demand).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target: </a:t>
            </a:r>
            <a:r>
              <a:rPr lang="en-US" sz="10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24-aircraft squadron, 30-day plan in &lt; 60 s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laptop; large fleets split by base or squadron.</a:t>
            </a:r>
            <a:endParaRPr lang="en-US" sz="1050" dirty="0"/>
          </a:p>
        </p:txBody>
      </p:sp>
      <p:sp>
        <p:nvSpPr>
          <p:cNvPr id="8" name="VIABILITY label"/>
          <p:cNvSpPr/>
          <p:nvPr/>
        </p:nvSpPr>
        <p:spPr>
          <a:xfrm>
            <a:off x="274320" y="2560320"/>
            <a:ext cx="173736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2907792"/>
            <a:ext cx="4251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adapters sit above existing systems; a new source needs only a new adapter, no model change.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 calls, least-privilege access, tamper-evident audit logs, encryption at rest and in transit.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checksummed, approved model versions run; input range checks + drift monitoring.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only: release-to-service stays with authorized personnel.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841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4114800" cy="246888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 data during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benchmark, synthetic fleet, adapter layer, pilot as first roadmap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 is messy or shifts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Data-quality score per aircraft, drift monitoring, controlled retraining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do not trust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Explanations, uncertainty ranges, override with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Over-reliance or late-failure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role, human approval, pessimistic bounds, anomaly detector as second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75488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Release-to-service always remains a human decision.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badge"/>
          <p:cNvSpPr/>
          <p:nvPr/>
        </p:nvSpPr>
        <p:spPr>
          <a:xfrm>
            <a:off x="228600" y="128016"/>
            <a:ext cx="86868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KillSwitchX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5" name="Stat Fleet availability"/>
          <p:cNvSpPr/>
          <p:nvPr/>
        </p:nvSpPr>
        <p:spPr>
          <a:xfrm>
            <a:off x="274320" y="804672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850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availability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+5–10 pts</a:t>
            </a:r>
            <a:endParaRPr lang="en-US" sz="16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reactive maintenance</a:t>
            </a:r>
            <a:endParaRPr lang="en-US" sz="1600" dirty="0"/>
          </a:p>
        </p:txBody>
      </p:sp>
      <p:sp>
        <p:nvSpPr>
          <p:cNvPr id="8" name="Stat Unplanned groundings"/>
          <p:cNvSpPr/>
          <p:nvPr/>
        </p:nvSpPr>
        <p:spPr>
          <a:xfrm>
            <a:off x="2468880" y="804672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850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groundings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fewer</a:t>
            </a:r>
            <a:endParaRPr lang="en-US" sz="16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industry predictive-maintenance studies</a:t>
            </a:r>
            <a:endParaRPr lang="en-US" sz="1600" dirty="0"/>
          </a:p>
        </p:txBody>
      </p:sp>
      <p:sp>
        <p:nvSpPr>
          <p:cNvPr id="11" name="Stat Ready aircraft-days"/>
          <p:cNvSpPr/>
          <p:nvPr/>
        </p:nvSpPr>
        <p:spPr>
          <a:xfrm>
            <a:off x="4663440" y="804672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850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aircraft-days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+36 / month</a:t>
            </a:r>
            <a:endParaRPr lang="en-US" sz="16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24-aircraft squadron at +5 pts</a:t>
            </a:r>
            <a:endParaRPr lang="en-US" sz="1600" dirty="0"/>
          </a:p>
        </p:txBody>
      </p:sp>
      <p:sp>
        <p:nvSpPr>
          <p:cNvPr id="14" name="Stat Planning time"/>
          <p:cNvSpPr/>
          <p:nvPr/>
        </p:nvSpPr>
        <p:spPr>
          <a:xfrm>
            <a:off x="6858000" y="804672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850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time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minutes</a:t>
            </a:r>
            <a:endParaRPr lang="en-US" sz="16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re-plan in seconds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17190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targets, measured on the synthetic fleet vs reactive, calendar-based and prediction-only plans. Real gains depend on a pilot.</a:t>
            </a:r>
            <a:endParaRPr lang="en-US" sz="900" dirty="0"/>
          </a:p>
        </p:txBody>
      </p:sp>
      <p:sp>
        <p:nvSpPr>
          <p:cNvPr id="18" name="Impact card"/>
          <p:cNvSpPr/>
          <p:nvPr/>
        </p:nvSpPr>
        <p:spPr>
          <a:xfrm>
            <a:off x="274320" y="2148840"/>
            <a:ext cx="416052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9" name="IMPACT label"/>
          <p:cNvSpPr/>
          <p:nvPr/>
        </p:nvSpPr>
        <p:spPr>
          <a:xfrm>
            <a:off x="411480" y="201168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2011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235915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ready aircraft when they are needed.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unplanned groundings.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warning of spares shortfalls.</a:t>
            </a:r>
            <a:endParaRPr lang="en-US" sz="1050" dirty="0"/>
          </a:p>
        </p:txBody>
      </p:sp>
      <p:sp>
        <p:nvSpPr>
          <p:cNvPr id="22" name="Benefits card"/>
          <p:cNvSpPr/>
          <p:nvPr/>
        </p:nvSpPr>
        <p:spPr>
          <a:xfrm>
            <a:off x="4709160" y="2148840"/>
            <a:ext cx="416052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3" name="BENEFITS label"/>
          <p:cNvSpPr/>
          <p:nvPr/>
        </p:nvSpPr>
        <p:spPr>
          <a:xfrm>
            <a:off x="4846320" y="201168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011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35915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 of hangar slots and technicians.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see reasons and uncertainty before approving.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replaces separate tools and offices.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27" name="Road line"/>
          <p:cNvSpPr/>
          <p:nvPr/>
        </p:nvSpPr>
        <p:spPr>
          <a:xfrm>
            <a:off x="990600" y="4005072"/>
            <a:ext cx="71628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8" name="Dot Now"/>
          <p:cNvSpPr/>
          <p:nvPr/>
        </p:nvSpPr>
        <p:spPr>
          <a:xfrm>
            <a:off x="908304" y="3922776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" y="36758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4142232"/>
            <a:ext cx="134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950" dirty="0"/>
          </a:p>
        </p:txBody>
      </p:sp>
      <p:sp>
        <p:nvSpPr>
          <p:cNvPr id="31" name="Dot M 1–3"/>
          <p:cNvSpPr/>
          <p:nvPr/>
        </p:nvSpPr>
        <p:spPr>
          <a:xfrm>
            <a:off x="2340864" y="392277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06880" y="36758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752600" y="4142232"/>
            <a:ext cx="134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on historical data</a:t>
            </a:r>
            <a:endParaRPr lang="en-US" sz="950" dirty="0"/>
          </a:p>
        </p:txBody>
      </p:sp>
      <p:sp>
        <p:nvSpPr>
          <p:cNvPr id="34" name="Dot M 3–6"/>
          <p:cNvSpPr/>
          <p:nvPr/>
        </p:nvSpPr>
        <p:spPr>
          <a:xfrm>
            <a:off x="3773424" y="392277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39440" y="36758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3–6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185160" y="4142232"/>
            <a:ext cx="134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validation</a:t>
            </a:r>
            <a:endParaRPr lang="en-US" sz="950" dirty="0"/>
          </a:p>
        </p:txBody>
      </p:sp>
      <p:sp>
        <p:nvSpPr>
          <p:cNvPr id="37" name="Dot M 6–9"/>
          <p:cNvSpPr/>
          <p:nvPr/>
        </p:nvSpPr>
        <p:spPr>
          <a:xfrm>
            <a:off x="5205984" y="392277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0" y="36758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6–9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617720" y="4142232"/>
            <a:ext cx="134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pilot, one squadron</a:t>
            </a:r>
            <a:endParaRPr lang="en-US" sz="950" dirty="0"/>
          </a:p>
        </p:txBody>
      </p:sp>
      <p:sp>
        <p:nvSpPr>
          <p:cNvPr id="40" name="Dot M 9+"/>
          <p:cNvSpPr/>
          <p:nvPr/>
        </p:nvSpPr>
        <p:spPr>
          <a:xfrm>
            <a:off x="6638544" y="392277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04560" y="36758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9+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050280" y="4142232"/>
            <a:ext cx="134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ops, human approval</a:t>
            </a:r>
            <a:endParaRPr lang="en-US" sz="950" dirty="0"/>
          </a:p>
        </p:txBody>
      </p:sp>
      <p:sp>
        <p:nvSpPr>
          <p:cNvPr id="43" name="Dot Next"/>
          <p:cNvSpPr/>
          <p:nvPr/>
        </p:nvSpPr>
        <p:spPr>
          <a:xfrm>
            <a:off x="8071104" y="392277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37120" y="36758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482840" y="4142232"/>
            <a:ext cx="134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units + edge version for forward bases</a:t>
            </a:r>
            <a:endParaRPr lang="en-US" sz="9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badge"/>
          <p:cNvSpPr/>
          <p:nvPr/>
        </p:nvSpPr>
        <p:spPr>
          <a:xfrm>
            <a:off x="228600" y="128016"/>
            <a:ext cx="86868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KillSwitchX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5" name="References card"/>
          <p:cNvSpPr/>
          <p:nvPr/>
        </p:nvSpPr>
        <p:spPr>
          <a:xfrm>
            <a:off x="274320" y="841248"/>
            <a:ext cx="4846320" cy="384048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25880"/>
            <a:ext cx="45262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Saxena et al., "Damage Propagation Modeling for Aircraft Engine Run-to-Failure Simulation," PHM 2008 (NASA C-MAPSS).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Lundberg &amp; Lee, "A Unified Approach to Interpreting Model Predictions," NeurIPS 2017 (SHAP).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Google OR-Tools, CP-SAT solver documentation.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Chen &amp; Guestrin, "XGBoost: A Scalable Tree Boosting System," KDD 2016.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Liu, Ting &amp; Zhou, "Isolation Forest," ICDM 2008.</a:t>
            </a:r>
            <a:endParaRPr lang="en-US" sz="1200" dirty="0"/>
          </a:p>
        </p:txBody>
      </p:sp>
      <p:sp>
        <p:nvSpPr>
          <p:cNvPr id="8" name="Validation card"/>
          <p:cNvSpPr/>
          <p:nvPr/>
        </p:nvSpPr>
        <p:spPr>
          <a:xfrm>
            <a:off x="5349240" y="841248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accent4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216152"/>
            <a:ext cx="3291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RUL: target RMSE ≤ 15 cycles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C-MAPSS FD001 (published deep models ≈ 12–16)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asymmetric score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late predictions penalized more than early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interval, target ≥ 90% coverage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remove ranges, spares limits or explanations one at a time.</a:t>
            </a:r>
            <a:endParaRPr lang="en-US" sz="1050" dirty="0"/>
          </a:p>
        </p:txBody>
      </p:sp>
      <p:sp>
        <p:nvSpPr>
          <p:cNvPr id="11" name="Limits card"/>
          <p:cNvSpPr/>
          <p:nvPr/>
        </p:nvSpPr>
        <p:spPr>
          <a:xfrm>
            <a:off x="5349240" y="3310128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3364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36393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military data is classified: validated on public benchmark + synthetic fleet.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demo is engine degradation; other components need own data.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Advisory, not certified for airworthiness.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H 2026 SkyReady">
  <a:themeElements>
    <a:clrScheme name="SIH 2026 SkyReady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2F5597"/>
      </a:accent1>
      <a:accent2>
        <a:srgbClr val="C55A11"/>
      </a:accent2>
      <a:accent3>
        <a:srgbClr val="548235"/>
      </a:accent3>
      <a:accent4>
        <a:srgbClr val="DAE3F3"/>
      </a:accent4>
      <a:accent5>
        <a:srgbClr val="FBE5D6"/>
      </a:accent5>
      <a:accent6>
        <a:srgbClr val="E2F0D9"/>
      </a:accent6>
      <a:hlink>
        <a:srgbClr val="0563C1"/>
      </a:hlink>
      <a:folHlink>
        <a:srgbClr val="954F72"/>
      </a:folHlink>
    </a:clrScheme>
    <a:fontScheme name="SIH 2026 SkyReady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913</Words>
  <Application>Microsoft Office PowerPoint</Application>
  <PresentationFormat>On-screen Show (16:9)</PresentationFormat>
  <Paragraphs>161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SIH 2026 SkyReady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SkyReady – SIH26249</dc:title>
  <dc:subject>PptxGenJS Presentation</dc:subject>
  <dc:creator>Team ZEN</dc:creator>
  <cp:lastModifiedBy>nancy</cp:lastModifiedBy>
  <cp:revision>8</cp:revision>
  <dcterms:created xsi:type="dcterms:W3CDTF">2026-10-09T15:22:32Z</dcterms:created>
  <dcterms:modified xsi:type="dcterms:W3CDTF">2026-10-23T14:48:39Z</dcterms:modified>
</cp:coreProperties>
</file>